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  <a:latin typeface="Calibri"/>
              </a:rPr>
              <a:t>Overview of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430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  <a:latin typeface="Calibri"/>
              </a:rPr>
              <a:t>Next-token prediction: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430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888888"/>
                </a:solidFill>
                <a:latin typeface="Calibri"/>
              </a:rPr>
              <a:t>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1430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888888"/>
                </a:solidFill>
                <a:latin typeface="Calibri"/>
              </a:rPr>
              <a:t>Similarity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Ground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50876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3333"/>
                </a:solidFill>
                <a:latin typeface="Calibri"/>
              </a:rPr>
              <a:t>This class is </a:t>
            </a:r>
            <a:r>
              <a:rPr sz="2000" b="1">
                <a:solidFill>
                  <a:srgbClr val="F28E2B"/>
                </a:solidFill>
                <a:latin typeface="Calibri"/>
              </a:rPr>
              <a:t>challenging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527048"/>
            <a:ext cx="502920" cy="347472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44444"/>
                </a:solidFill>
                <a:latin typeface="Courier New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527048"/>
            <a:ext cx="914400" cy="347472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44444"/>
                </a:solidFill>
                <a:latin typeface="Courier New"/>
              </a:rPr>
              <a:t>+ 0.0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402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Prediction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4028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3333"/>
                </a:solidFill>
                <a:latin typeface="Calibri"/>
              </a:rPr>
              <a:t>This class is </a:t>
            </a:r>
            <a:r>
              <a:rPr sz="2000" b="1">
                <a:solidFill>
                  <a:srgbClr val="E15759"/>
                </a:solidFill>
                <a:latin typeface="Calibri"/>
              </a:rPr>
              <a:t>difficult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258568"/>
            <a:ext cx="502920" cy="347472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44444"/>
                </a:solidFill>
                <a:latin typeface="Courier New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2258568"/>
            <a:ext cx="914400" cy="347472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44444"/>
                </a:solidFill>
                <a:latin typeface="Courier New"/>
              </a:rPr>
              <a:t>+ 0.38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97180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Prediction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9718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3333"/>
                </a:solidFill>
                <a:latin typeface="Calibri"/>
              </a:rPr>
              <a:t>This class is </a:t>
            </a:r>
            <a:r>
              <a:rPr sz="2000" b="1">
                <a:solidFill>
                  <a:srgbClr val="B07ECF"/>
                </a:solidFill>
                <a:latin typeface="Calibri"/>
              </a:rPr>
              <a:t>purple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990088"/>
            <a:ext cx="502920" cy="347472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44444"/>
                </a:solidFill>
                <a:latin typeface="Courier New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990088"/>
            <a:ext cx="914400" cy="347472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44444"/>
                </a:solidFill>
                <a:latin typeface="Courier New"/>
              </a:rPr>
              <a:t>+ 1.92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840480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Calibri"/>
              </a:rPr>
              <a:t>Our approach: reward similarity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34840"/>
            <a:ext cx="5943600" cy="777240"/>
          </a:xfrm>
          <a:prstGeom prst="rect">
            <a:avLst/>
          </a:prstGeom>
          <a:solidFill>
            <a:srgbClr val="F7F7F7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33333"/>
                </a:solidFill>
                <a:latin typeface="Calibri"/>
              </a:rPr>
              <a:t>Loss = CE
      + λ · embedding_similarity(gt, pred)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257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Calibri"/>
              </a:rPr>
              <a:t>↑ our term</a:t>
            </a:r>
          </a:p>
        </p:txBody>
      </p:sp>
      <p:pic>
        <p:nvPicPr>
          <p:cNvPr id="21" name="Picture 20" descr="mock_embeddin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57200"/>
            <a:ext cx="5760720" cy="6126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