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Helvetica Neue"/>
              </a:rPr>
              <a:t>Correlation of probability &amp; similarity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22960"/>
            <a:ext cx="7772400" cy="27432"/>
          </a:xfrm>
          <a:prstGeom prst="rect">
            <a:avLst/>
          </a:prstGeom>
          <a:solidFill>
            <a:srgbClr val="B8D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700" b="0">
                <a:solidFill>
                  <a:srgbClr val="CCCCCC"/>
                </a:solidFill>
                <a:latin typeface="Helvetica Neue"/>
              </a:rPr>
              <a:t>– </a:t>
            </a:r>
            <a:r>
              <a:rPr sz="1700" b="0">
                <a:solidFill>
                  <a:srgbClr val="444444"/>
                </a:solidFill>
                <a:latin typeface="Helvetica Neue"/>
              </a:rPr>
              <a:t>High-probability tokens tend to </a:t>
            </a:r>
            <a:r>
              <a:rPr sz="1700" b="1">
                <a:solidFill>
                  <a:srgbClr val="1A1A1A"/>
                </a:solidFill>
                <a:latin typeface="Helvetica Neue"/>
              </a:rPr>
              <a:t>cluster in embedding space</a:t>
            </a:r>
            <a:r>
              <a:rPr sz="1700" b="0">
                <a:solidFill>
                  <a:srgbClr val="444444"/>
                </a:solidFill>
                <a:latin typeface="Helvetica Neue"/>
              </a:rPr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sz="1700" b="0">
                <a:solidFill>
                  <a:srgbClr val="CCCCCC"/>
                </a:solidFill>
                <a:latin typeface="Helvetica Neue"/>
              </a:rPr>
              <a:t>– </a:t>
            </a:r>
            <a:r>
              <a:rPr sz="1700" b="0">
                <a:solidFill>
                  <a:srgbClr val="444444"/>
                </a:solidFill>
                <a:latin typeface="Helvetica Neue"/>
              </a:rPr>
              <a:t>The pattern </a:t>
            </a:r>
            <a:r>
              <a:rPr sz="1700" b="1">
                <a:solidFill>
                  <a:srgbClr val="1A1A1A"/>
                </a:solidFill>
                <a:latin typeface="Helvetica Neue"/>
              </a:rPr>
              <a:t>persists across vocabulary sizes</a:t>
            </a:r>
            <a:r>
              <a:rPr sz="1700" b="0">
                <a:solidFill>
                  <a:srgbClr val="444444"/>
                </a:solidFill>
                <a:latin typeface="Helvetica Neue"/>
              </a:rPr>
              <a:t> (1 K → 50 K).</a:t>
            </a:r>
          </a:p>
        </p:txBody>
      </p:sp>
      <p:pic>
        <p:nvPicPr>
          <p:cNvPr id="5" name="Picture 4" descr="tmpjqej9t6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20240"/>
            <a:ext cx="11365992" cy="3552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113659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999999"/>
                </a:solidFill>
                <a:latin typeface="Helvetica Neue"/>
              </a:rPr>
              <a:t>500 FineWeb contexts per model  ·  bin means ± 1 std  ·  Pearson r / Spearman ρ per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